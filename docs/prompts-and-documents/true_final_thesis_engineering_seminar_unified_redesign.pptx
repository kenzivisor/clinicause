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96" r:id="rId3"/>
    <p:sldId id="258" r:id="rId4"/>
    <p:sldId id="299" r:id="rId5"/>
    <p:sldId id="257" r:id="rId6"/>
    <p:sldId id="260" r:id="rId7"/>
    <p:sldId id="281" r:id="rId8"/>
    <p:sldId id="287" r:id="rId9"/>
    <p:sldId id="263" r:id="rId10"/>
    <p:sldId id="265" r:id="rId11"/>
    <p:sldId id="297" r:id="rId12"/>
    <p:sldId id="298" r:id="rId13"/>
    <p:sldId id="288" r:id="rId14"/>
    <p:sldId id="272" r:id="rId15"/>
    <p:sldId id="289" r:id="rId16"/>
    <p:sldId id="292" r:id="rId17"/>
    <p:sldId id="290" r:id="rId18"/>
    <p:sldId id="273" r:id="rId19"/>
    <p:sldId id="286" r:id="rId20"/>
    <p:sldId id="278" r:id="rId21"/>
    <p:sldId id="300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C8E1"/>
    <a:srgbClr val="BBC8E1"/>
    <a:srgbClr val="BB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48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an engineering seminar. The thesis is a pipeline: raw irregular ICU events, latent clinical states, model voters, DAG-guided adjustment, CATE estimation, and robustness checks. Emphasize that these are model-based risk differences under assumptions, not clinical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tells the audience how the talk is organized. The key design change is stronger section framing, not a more formal doctoral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only the minimal causal vocabulary. Prediction estimates risk. Causal inference asks a counterfactual question: what would happen to the same patient profile if the treatment or latent state were different?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scattered-event format: variables are observed at different times; absence of a lab is not neutral; aggregation can make the dataset easier but can erase important timing and missingness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binary latent states are useful: they are simpler and auditable, and they give the causal estimator a clear treatment variable. But they are proxies and lose within-state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rule-layer concept: deterministic trees translate non-causal measurements into causal latent proxies. This is a bridge, not a clinical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majority vote is not a clinical override. It is a label robustness mechanism. It combines rule-based trees with STraTS, TCN, GRU and GRU-D voters.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interface. Once we have latent states, outcome and DAG-selected covariates, the problem becomes a tabular causal estimation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transition into evidence. The support is cumulative: results, predictive signal, cross-estimator robustness, permutation tests, sensitivity analysis, clinical plausibility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research: non-binary states, extension beyond ICU to domains such as games or networking, and systematic evaluation of foundation models as causal-reasoning assistants.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main thesis contribution. The emphasis is representation, auditability and validation, not a single estimator.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to go deeper on the latent-variable definitions, DAG assumptions, CATE estimators or robustness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97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SIS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39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3840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CliniCause:</a:t>
            </a:r>
            <a:b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IRREGULAR ICU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TIME-SERIES TO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LATENT-STATE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" y="3246119"/>
            <a:ext cx="3840480" cy="11762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FE8F6"/>
                </a:solidFill>
              </a:rPr>
              <a:t>M.Sc. thesis seminar: Communication Systems Engineering</a:t>
            </a:r>
          </a:p>
        </p:txBody>
      </p:sp>
      <p:sp>
        <p:nvSpPr>
          <p:cNvPr id="7" name="Text 5"/>
          <p:cNvSpPr/>
          <p:nvPr/>
        </p:nvSpPr>
        <p:spPr>
          <a:xfrm>
            <a:off x="5440680" y="1078992"/>
            <a:ext cx="1371600" cy="530352"/>
          </a:xfrm>
          <a:prstGeom prst="rect">
            <a:avLst/>
          </a:prstGeom>
          <a:solidFill>
            <a:srgbClr val="F4FAFF"/>
          </a:solidFill>
          <a:ln w="13970">
            <a:solidFill>
              <a:srgbClr val="1F5F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ICU events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39712" y="1344168"/>
            <a:ext cx="640080" cy="0"/>
          </a:xfrm>
          <a:prstGeom prst="line">
            <a:avLst/>
          </a:prstGeom>
          <a:noFill/>
          <a:ln w="20320">
            <a:solidFill>
              <a:srgbClr val="1F5F8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516368" y="978408"/>
            <a:ext cx="1143000" cy="731520"/>
          </a:xfrm>
          <a:prstGeom prst="rect">
            <a:avLst/>
          </a:prstGeom>
          <a:solidFill>
            <a:srgbClr val="E8F7F6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77656" y="1344168"/>
            <a:ext cx="640080" cy="0"/>
          </a:xfrm>
          <a:prstGeom prst="line">
            <a:avLst/>
          </a:prstGeom>
          <a:noFill/>
          <a:ln w="20320">
            <a:solidFill>
              <a:srgbClr val="0F8B8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54312" y="978408"/>
            <a:ext cx="1234440" cy="731520"/>
          </a:xfrm>
          <a:prstGeom prst="rect">
            <a:avLst/>
          </a:prstGeom>
          <a:solidFill>
            <a:srgbClr val="FFF4E8"/>
          </a:solidFill>
          <a:ln w="1397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300" dirty="0"/>
          </a:p>
        </p:txBody>
      </p:sp>
      <p:pic>
        <p:nvPicPr>
          <p:cNvPr id="12" name="Image 0" descr="/mnt/data/extract_thesi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1" y="2218677"/>
            <a:ext cx="5148072" cy="291110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480" y="651052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M.Sc. thesis seminar | CATE estimates are model-based risk differences under assumptions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32027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794"/>
                </a:solidFill>
                <a:latin typeface="Aptos"/>
              </a:rPr>
              <a:t>1</a:t>
            </a:r>
            <a:endParaRPr lang="en-US" sz="8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DF61108-429C-325D-AEA3-A2C60AA09195}"/>
              </a:ext>
            </a:extLst>
          </p:cNvPr>
          <p:cNvSpPr/>
          <p:nvPr/>
        </p:nvSpPr>
        <p:spPr>
          <a:xfrm>
            <a:off x="566928" y="4490120"/>
            <a:ext cx="3840480" cy="8715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DDEFF8"/>
                </a:solidFill>
                <a:latin typeface="Aptos"/>
              </a:rPr>
              <a:t>Kobi Kenzi | Ben-Gurion University of the Negev</a:t>
            </a:r>
            <a:endParaRPr lang="en-US" sz="1200" dirty="0"/>
          </a:p>
          <a:p>
            <a:r>
              <a:rPr lang="en-US" sz="1200" dirty="0">
                <a:solidFill>
                  <a:srgbClr val="DDEFF8"/>
                </a:solidFill>
                <a:latin typeface="Aptos"/>
              </a:rPr>
              <a:t>Advisor: Dr. Dan Vilenchik | June 2026</a:t>
            </a:r>
            <a:endParaRPr lang="en-US" sz="120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Box 18"/>
          <p:cNvSpPr txBox="1"/>
          <p:nvPr/>
        </p:nvSpPr>
        <p:spPr>
          <a:xfrm>
            <a:off x="438912" y="6638544"/>
            <a:ext cx="7863840" cy="12801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60" b="0">
                <a:solidFill>
                  <a:srgbClr val="B4C6D1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20" b="0">
                <a:solidFill>
                  <a:srgbClr val="B4C6D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868680" y="1298448"/>
            <a:ext cx="10469880" cy="658368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B5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4984" y="1426464"/>
            <a:ext cx="402336" cy="402336"/>
          </a:xfrm>
          <a:prstGeom prst="ellipse">
            <a:avLst/>
          </a:prstGeom>
          <a:solidFill>
            <a:srgbClr val="2A7788"/>
          </a:solidFill>
          <a:ln>
            <a:solidFill>
              <a:srgbClr val="2A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1380744"/>
            <a:ext cx="90688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800" b="1" dirty="0">
                <a:solidFill>
                  <a:srgbClr val="142741"/>
                </a:solidFill>
                <a:latin typeface="Aptos"/>
              </a:rPr>
              <a:t>Introduction to Causal Inference </a:t>
            </a:r>
            <a:r>
              <a:rPr sz="1600" b="0" dirty="0">
                <a:solidFill>
                  <a:srgbClr val="546170"/>
                </a:solidFill>
                <a:latin typeface="Aptos"/>
              </a:rPr>
              <a:t>—  </a:t>
            </a:r>
            <a:r>
              <a:rPr lang="en-US" sz="1600" b="0" dirty="0">
                <a:solidFill>
                  <a:srgbClr val="546170"/>
                </a:solidFill>
                <a:latin typeface="Aptos"/>
              </a:rPr>
              <a:t>Problem definition; </a:t>
            </a:r>
            <a:r>
              <a:rPr sz="1600" b="0" dirty="0">
                <a:solidFill>
                  <a:srgbClr val="546170"/>
                </a:solidFill>
                <a:latin typeface="Aptos"/>
              </a:rPr>
              <a:t>Prediction vs. </a:t>
            </a:r>
            <a:r>
              <a:rPr lang="en-US" sz="1600" b="0" dirty="0">
                <a:solidFill>
                  <a:srgbClr val="546170"/>
                </a:solidFill>
                <a:latin typeface="Aptos"/>
              </a:rPr>
              <a:t>C</a:t>
            </a:r>
            <a:r>
              <a:rPr sz="1600" b="0" dirty="0">
                <a:solidFill>
                  <a:srgbClr val="546170"/>
                </a:solidFill>
                <a:latin typeface="Aptos"/>
              </a:rPr>
              <a:t>ausal effect; ATE/CATE</a:t>
            </a:r>
            <a:r>
              <a:rPr lang="en-US" sz="1600" b="0" dirty="0">
                <a:solidFill>
                  <a:srgbClr val="546170"/>
                </a:solidFill>
                <a:latin typeface="Aptos"/>
              </a:rPr>
              <a:t>.</a:t>
            </a:r>
            <a:endParaRPr sz="1600" b="0" dirty="0">
              <a:solidFill>
                <a:srgbClr val="54617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8680" y="2103120"/>
            <a:ext cx="10469880" cy="658368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B5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14984" y="2231136"/>
            <a:ext cx="402336" cy="402336"/>
          </a:xfrm>
          <a:prstGeom prst="ellipse">
            <a:avLst/>
          </a:prstGeom>
          <a:solidFill>
            <a:srgbClr val="2A7788"/>
          </a:solidFill>
          <a:ln>
            <a:solidFill>
              <a:srgbClr val="2A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2185416"/>
            <a:ext cx="949176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b="1" dirty="0">
                <a:solidFill>
                  <a:srgbClr val="142741"/>
                </a:solidFill>
                <a:latin typeface="Aptos"/>
              </a:rPr>
              <a:t>The </a:t>
            </a:r>
            <a:r>
              <a:rPr sz="1800" b="1" dirty="0">
                <a:solidFill>
                  <a:srgbClr val="142741"/>
                </a:solidFill>
                <a:latin typeface="Aptos"/>
              </a:rPr>
              <a:t>causal </a:t>
            </a:r>
            <a:r>
              <a:rPr lang="en-US" sz="1800" b="1" dirty="0">
                <a:solidFill>
                  <a:srgbClr val="142741"/>
                </a:solidFill>
                <a:latin typeface="Aptos"/>
              </a:rPr>
              <a:t>data </a:t>
            </a:r>
            <a:r>
              <a:rPr sz="1800" b="1" dirty="0">
                <a:solidFill>
                  <a:srgbClr val="142741"/>
                </a:solidFill>
                <a:latin typeface="Aptos"/>
              </a:rPr>
              <a:t>gap</a:t>
            </a:r>
            <a:r>
              <a:rPr sz="1600" b="0" dirty="0">
                <a:solidFill>
                  <a:srgbClr val="546170"/>
                </a:solidFill>
                <a:latin typeface="Aptos"/>
              </a:rPr>
              <a:t>  —</a:t>
            </a:r>
            <a:r>
              <a:rPr lang="en-US" sz="1600" b="0" dirty="0">
                <a:solidFill>
                  <a:srgbClr val="546170"/>
                </a:solidFill>
                <a:latin typeface="Aptos"/>
              </a:rPr>
              <a:t> </a:t>
            </a:r>
            <a:r>
              <a:rPr lang="en-IL" sz="1600" dirty="0">
                <a:solidFill>
                  <a:srgbClr val="546170"/>
                </a:solidFill>
                <a:latin typeface="Aptos"/>
              </a:rPr>
              <a:t>Real</a:t>
            </a:r>
            <a:r>
              <a:rPr lang="en-US" sz="1600" dirty="0">
                <a:solidFill>
                  <a:srgbClr val="546170"/>
                </a:solidFill>
                <a:latin typeface="Aptos"/>
              </a:rPr>
              <a:t> causal </a:t>
            </a:r>
            <a:r>
              <a:rPr lang="en-IL" sz="1600" dirty="0">
                <a:solidFill>
                  <a:srgbClr val="546170"/>
                </a:solidFill>
                <a:latin typeface="Aptos"/>
              </a:rPr>
              <a:t>data scarcity</a:t>
            </a:r>
            <a:r>
              <a:rPr lang="en-US" sz="1600" dirty="0">
                <a:solidFill>
                  <a:srgbClr val="546170"/>
                </a:solidFill>
                <a:latin typeface="Aptos"/>
              </a:rPr>
              <a:t>; </a:t>
            </a:r>
            <a:r>
              <a:rPr lang="en-IL" sz="1600" dirty="0">
                <a:solidFill>
                  <a:srgbClr val="546170"/>
                </a:solidFill>
                <a:latin typeface="Aptos"/>
              </a:rPr>
              <a:t>Proxy-variable gap</a:t>
            </a:r>
            <a:r>
              <a:rPr lang="en-US" sz="1600" dirty="0">
                <a:solidFill>
                  <a:srgbClr val="546170"/>
                </a:solidFill>
                <a:latin typeface="Aptos"/>
              </a:rPr>
              <a:t>; </a:t>
            </a:r>
            <a:r>
              <a:rPr lang="en-IL" sz="1600" dirty="0">
                <a:solidFill>
                  <a:srgbClr val="546170"/>
                </a:solidFill>
                <a:latin typeface="Aptos"/>
              </a:rPr>
              <a:t>Synthetic benchmark dependence</a:t>
            </a:r>
            <a:r>
              <a:rPr sz="1600" dirty="0">
                <a:solidFill>
                  <a:srgbClr val="546170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907792"/>
            <a:ext cx="10469880" cy="658368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B5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4984" y="3035808"/>
            <a:ext cx="402336" cy="402336"/>
          </a:xfrm>
          <a:prstGeom prst="ellipse">
            <a:avLst/>
          </a:prstGeom>
          <a:solidFill>
            <a:srgbClr val="2A7788"/>
          </a:solidFill>
          <a:ln>
            <a:solidFill>
              <a:srgbClr val="2A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2990088"/>
            <a:ext cx="9418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142741"/>
                </a:solidFill>
                <a:latin typeface="Aptos"/>
              </a:rPr>
              <a:t>Engineering contract</a:t>
            </a:r>
            <a:r>
              <a:rPr sz="1600" b="0">
                <a:solidFill>
                  <a:srgbClr val="546170"/>
                </a:solidFill>
                <a:latin typeface="Aptos"/>
              </a:rPr>
              <a:t>  —  Datasets, latent clinical states, reviewable DAGs and rule specifications.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12464"/>
            <a:ext cx="10469880" cy="658368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B5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4984" y="3840480"/>
            <a:ext cx="402336" cy="402336"/>
          </a:xfrm>
          <a:prstGeom prst="ellipse">
            <a:avLst/>
          </a:prstGeom>
          <a:solidFill>
            <a:srgbClr val="2A7788"/>
          </a:solidFill>
          <a:ln>
            <a:solidFill>
              <a:srgbClr val="2A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3794760"/>
            <a:ext cx="9418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142741"/>
                </a:solidFill>
                <a:latin typeface="Aptos"/>
              </a:rPr>
              <a:t>Label construction &amp; model voters</a:t>
            </a:r>
            <a:r>
              <a:rPr sz="1600" b="0">
                <a:solidFill>
                  <a:srgbClr val="546170"/>
                </a:solidFill>
                <a:latin typeface="Aptos"/>
              </a:rPr>
              <a:t>  —  Decision trees plus STraTS, TCN, GRU and GRU-D majority vote.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17136"/>
            <a:ext cx="10469880" cy="658368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B5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14984" y="4645152"/>
            <a:ext cx="402336" cy="402336"/>
          </a:xfrm>
          <a:prstGeom prst="ellipse">
            <a:avLst/>
          </a:prstGeom>
          <a:solidFill>
            <a:srgbClr val="2A7788"/>
          </a:solidFill>
          <a:ln>
            <a:solidFill>
              <a:srgbClr val="2A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4599432"/>
            <a:ext cx="9418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142741"/>
                </a:solidFill>
                <a:latin typeface="Aptos"/>
              </a:rPr>
              <a:t>Evidence &amp; wrap-up</a:t>
            </a:r>
            <a:r>
              <a:rPr sz="1600" b="0">
                <a:solidFill>
                  <a:srgbClr val="546170"/>
                </a:solidFill>
                <a:latin typeface="Aptos"/>
              </a:rPr>
              <a:t>  —  CATE rankings, robustness, permutation, sensitivity and clinical sanity checks.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32120"/>
            <a:ext cx="987552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900" b="1" dirty="0">
                <a:solidFill>
                  <a:srgbClr val="157484"/>
                </a:solidFill>
                <a:latin typeface="Aptos"/>
              </a:rPr>
              <a:t>Main thread: recover a causal representation before estimating effects.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65760"/>
            <a:ext cx="8945206" cy="26776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en-US" sz="1620" b="1" dirty="0">
                <a:solidFill>
                  <a:srgbClr val="0C2D46"/>
                </a:solidFill>
                <a:latin typeface="Aptos"/>
              </a:rPr>
              <a:t>Seminar roadmap: from irregular non-causal raw data to a validated causal estimation pipeline</a:t>
            </a:r>
            <a:endParaRPr sz="1620" b="1" dirty="0">
              <a:solidFill>
                <a:srgbClr val="0C2D46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99" y="1783080"/>
            <a:ext cx="2331721" cy="1828800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1450" b="1" dirty="0">
                <a:solidFill>
                  <a:srgbClr val="102A43"/>
                </a:solidFill>
                <a:latin typeface="Aptos" pitchFamily="34" charset="0"/>
              </a:rPr>
              <a:t>P</a:t>
            </a:r>
            <a:r>
              <a:rPr sz="1450" b="1" dirty="0">
                <a:solidFill>
                  <a:srgbClr val="102A43"/>
                </a:solidFill>
                <a:latin typeface="Aptos" pitchFamily="34" charset="0"/>
              </a:rPr>
              <a:t>rediction</a:t>
            </a:r>
          </a:p>
          <a:p>
            <a:r>
              <a:rPr sz="1200" dirty="0">
                <a:solidFill>
                  <a:srgbClr val="4A5568"/>
                </a:solidFill>
                <a:latin typeface="Aptos" pitchFamily="34" charset="0"/>
              </a:rPr>
              <a:t>Given x, estimate Y.</a:t>
            </a:r>
            <a:endParaRPr lang="en-US" sz="1200" dirty="0">
              <a:solidFill>
                <a:srgbClr val="4A5568"/>
              </a:solidFill>
              <a:latin typeface="Aptos" pitchFamily="34" charset="0"/>
            </a:endParaRPr>
          </a:p>
          <a:p>
            <a:endParaRPr sz="1200" dirty="0">
              <a:solidFill>
                <a:srgbClr val="4A5568"/>
              </a:solidFill>
              <a:latin typeface="Aptos" pitchFamily="34" charset="0"/>
            </a:endParaRPr>
          </a:p>
          <a:p>
            <a:endParaRPr sz="1200" dirty="0">
              <a:solidFill>
                <a:srgbClr val="4A5568"/>
              </a:solidFill>
              <a:latin typeface="Aptos" pitchFamily="34" charset="0"/>
            </a:endParaRPr>
          </a:p>
          <a:p>
            <a:r>
              <a:rPr sz="1200" dirty="0">
                <a:solidFill>
                  <a:srgbClr val="4A5568"/>
                </a:solidFill>
                <a:latin typeface="Aptos" pitchFamily="34" charset="0"/>
              </a:rPr>
              <a:t>Useful question:</a:t>
            </a:r>
          </a:p>
          <a:p>
            <a:r>
              <a:rPr sz="1200" dirty="0">
                <a:solidFill>
                  <a:srgbClr val="4A5568"/>
                </a:solidFill>
                <a:latin typeface="Aptos" pitchFamily="34" charset="0"/>
              </a:rPr>
              <a:t>“Which patients have elevated mortality risk?”</a:t>
            </a:r>
          </a:p>
        </p:txBody>
      </p:sp>
      <p:sp>
        <p:nvSpPr>
          <p:cNvPr id="6" name="Shape 4"/>
          <p:cNvSpPr/>
          <p:nvPr/>
        </p:nvSpPr>
        <p:spPr>
          <a:xfrm>
            <a:off x="660861" y="1783080"/>
            <a:ext cx="0" cy="1828800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337560" y="1783080"/>
            <a:ext cx="2880359" cy="1828800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Causation
</a:t>
            </a:r>
            <a:r>
              <a:rPr lang="en-US" sz="12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same patient profile x, compare Y(1) and Y(0).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question: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would change if state T were absent/present?”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20934" y="1783080"/>
            <a:ext cx="0" cy="182880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extract_thesi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54468"/>
            <a:ext cx="4572000" cy="27146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"/>
              </a:rPr>
              <a:t>Core notation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553712"/>
            <a:ext cx="2057400" cy="438912"/>
          </a:xfrm>
          <a:prstGeom prst="rect">
            <a:avLst/>
          </a:prstGeom>
          <a:solidFill>
            <a:srgbClr val="FFF4E8"/>
          </a:solidFill>
          <a:ln w="1397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T: Treatment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71800" y="4553712"/>
            <a:ext cx="2057400" cy="438912"/>
          </a:xfrm>
          <a:prstGeom prst="rect">
            <a:avLst/>
          </a:prstGeom>
          <a:solidFill>
            <a:srgbClr val="EAF7EF"/>
          </a:solidFill>
          <a:ln w="13970">
            <a:solidFill>
              <a:srgbClr val="2F85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Y: Outcome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12080" y="4553712"/>
            <a:ext cx="2743200" cy="438912"/>
          </a:xfrm>
          <a:prstGeom prst="rect">
            <a:avLst/>
          </a:prstGeom>
          <a:solidFill>
            <a:srgbClr val="F1EDFF"/>
          </a:solidFill>
          <a:ln w="13970">
            <a:solidFill>
              <a:srgbClr val="6B46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W: Confounders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" y="5443110"/>
            <a:ext cx="10881360" cy="41148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IL" sz="1550" b="1" dirty="0">
                <a:solidFill>
                  <a:srgbClr val="102A43"/>
                </a:solidFill>
                <a:latin typeface="Aptos" pitchFamily="34" charset="0"/>
              </a:rPr>
              <a:t>CATE(x): estimated outcome difference between T=1 and T=0 after confounder adjustment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248A03D-8BA7-0164-EB4F-DEE25C351DF9}"/>
              </a:ext>
            </a:extLst>
          </p:cNvPr>
          <p:cNvSpPr/>
          <p:nvPr/>
        </p:nvSpPr>
        <p:spPr>
          <a:xfrm>
            <a:off x="8138160" y="4553712"/>
            <a:ext cx="2057400" cy="438912"/>
          </a:xfrm>
          <a:prstGeom prst="rect">
            <a:avLst/>
          </a:prstGeom>
          <a:solidFill>
            <a:srgbClr val="14C8E1">
              <a:alpha val="30000"/>
            </a:srgbClr>
          </a:solidFill>
          <a:ln w="13970">
            <a:solidFill>
              <a:srgbClr val="6B46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300" b="1">
                <a:solidFill>
                  <a:srgbClr val="102A43"/>
                </a:solidFill>
                <a:latin typeface="Aptos" pitchFamily="34" charset="0"/>
              </a:rPr>
              <a:t>X: Context</a:t>
            </a:r>
            <a:endParaRPr lang="en-US" sz="1300" b="1" dirty="0">
              <a:solidFill>
                <a:srgbClr val="102A43"/>
              </a:solidFill>
              <a:latin typeface="Aptos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PROBLEM DEFINITION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Causal inference asks a different question than prediction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007E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C2D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causal datasets are scarce across domains</a:t>
            </a:r>
            <a:endParaRPr lang="en-US" sz="1620" dirty="0"/>
          </a:p>
        </p:txBody>
      </p:sp>
      <p:sp>
        <p:nvSpPr>
          <p:cNvPr id="4" name="Shape 2"/>
          <p:cNvSpPr/>
          <p:nvPr/>
        </p:nvSpPr>
        <p:spPr>
          <a:xfrm>
            <a:off x="3246120" y="2331720"/>
            <a:ext cx="822960" cy="0"/>
          </a:xfrm>
          <a:prstGeom prst="line">
            <a:avLst/>
          </a:prstGeom>
          <a:noFill/>
          <a:ln w="17780">
            <a:solidFill>
              <a:srgbClr val="7AA6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5669280" y="2331720"/>
            <a:ext cx="822960" cy="0"/>
          </a:xfrm>
          <a:prstGeom prst="line">
            <a:avLst/>
          </a:prstGeom>
          <a:noFill/>
          <a:ln w="17780">
            <a:solidFill>
              <a:srgbClr val="7AA6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8092440" y="2331720"/>
            <a:ext cx="822960" cy="0"/>
          </a:xfrm>
          <a:prstGeom prst="line">
            <a:avLst/>
          </a:prstGeom>
          <a:noFill/>
          <a:ln w="17780">
            <a:solidFill>
              <a:srgbClr val="7AA6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AF4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real-world data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measurements, actions, states, timestamps and outcomes collected for operational—not causal—purposes.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187952" y="1325880"/>
            <a:ext cx="1353312" cy="2011680"/>
          </a:xfrm>
          <a:prstGeom prst="roundRect">
            <a:avLst>
              <a:gd name="adj" fmla="val 5405"/>
            </a:avLst>
          </a:prstGeom>
          <a:solidFill>
            <a:srgbClr val="FFF4E8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352544" y="14721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52544" y="1828800"/>
            <a:ext cx="1024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Counterfactuals are not observed; causal variables are not given by the columns.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601968" y="1325880"/>
            <a:ext cx="1353312" cy="2011680"/>
          </a:xfrm>
          <a:prstGeom prst="roundRect">
            <a:avLst>
              <a:gd name="adj" fmla="val 5405"/>
            </a:avLst>
          </a:prstGeom>
          <a:solidFill>
            <a:srgbClr val="E8F7F6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766560" y="14721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shortcut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024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synthetic DAGs, simulated treatments or semi-synthetic benchmark labels.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034272" y="13258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AF7E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9198864" y="14721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resource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98864" y="182880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Real, reusable causal-style datasets with explicit variable definitions, assumptions and validation artifacts.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41832" y="3529584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014984" y="36164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time series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2487168" y="3529584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2560320" y="36164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telemetry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032504" y="3529584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4105656" y="36164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economics / policy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5577840" y="3529584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650992" y="36164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logs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123176" y="3529584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196328" y="36164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games / simulators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8668512" y="3529584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8741664" y="36164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systems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85800" y="411480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850392" y="4261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0392" y="46177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can be easy to evaluate when causal truth is created by construction, but that does not solve the real-data problem.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4434840" y="411480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4599432" y="4261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real data is harder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99432" y="46177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variables are often proxies, symptoms, mediators, decisions or measurements of hidden mechanisms.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8183880" y="411480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8348472" y="4261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348472" y="46177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estimating effects, a dataset needs causal objects that are defined, documented and reviewable.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676656" y="5715000"/>
            <a:ext cx="1083564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7E0F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problem: causal inference lacks real causal datasets, which derived from real world measurements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70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M.Sc. thesis seminar  |  CATE estimates are model-based risk differences under assumptions</a:t>
            </a:r>
            <a:endParaRPr lang="en-US" sz="570" dirty="0"/>
          </a:p>
        </p:txBody>
      </p:sp>
      <p:sp>
        <p:nvSpPr>
          <p:cNvPr id="42" name="Text 40"/>
          <p:cNvSpPr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50" dirty="0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3B5DBF2B-7B83-EFA1-8731-5F35B09ACC12}"/>
              </a:ext>
            </a:extLst>
          </p:cNvPr>
          <p:cNvSpPr/>
          <p:nvPr/>
        </p:nvSpPr>
        <p:spPr>
          <a:xfrm>
            <a:off x="502920" y="1186479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23F738B6-6926-A465-ADEB-9E24EE7A6D64}"/>
              </a:ext>
            </a:extLst>
          </p:cNvPr>
          <p:cNvSpPr/>
          <p:nvPr/>
        </p:nvSpPr>
        <p:spPr>
          <a:xfrm>
            <a:off x="502920" y="788369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18">
            <a:extLst>
              <a:ext uri="{FF2B5EF4-FFF2-40B4-BE49-F238E27FC236}">
                <a16:creationId xmlns:a16="http://schemas.microsoft.com/office/drawing/2014/main" id="{8C920410-AE3E-316D-EADC-65C2CC181B32}"/>
              </a:ext>
            </a:extLst>
          </p:cNvPr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007E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 CONTRIBUTION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C2D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pipeline for building causal-style datasets from non-causal variables</a:t>
            </a:r>
            <a:endParaRPr lang="en-US" sz="162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AF4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38074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Raw-data contract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ordinary domain data: events, measurements, decisions, timestamps and outcomes.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8F7F6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Causal abstraction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non-causal columns into treatment-like latent states or variables using domain expertise.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8368" y="361188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4E8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22960" y="37581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Assumption layer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DAGs, confounder sets, evidence rules and estimator-ready definitions of T, Y, W and X.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58368" y="480060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2960" y="494690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Release layer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tables, labels, rules, metadata, validation outputs and limitations for reuse.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069080" y="1234440"/>
            <a:ext cx="7178040" cy="347472"/>
          </a:xfrm>
          <a:prstGeom prst="rect">
            <a:avLst/>
          </a:prstGeom>
          <a:solidFill>
            <a:srgbClr val="18324A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224528" y="131673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artifact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73952" y="131673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becomes reusable beyond one domain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581912"/>
            <a:ext cx="2240280" cy="676656"/>
          </a:xfrm>
          <a:prstGeom prst="rect">
            <a:avLst/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6309360" y="1581912"/>
            <a:ext cx="4937760" cy="676656"/>
          </a:xfrm>
          <a:prstGeom prst="rect">
            <a:avLst/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206240" y="1700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variables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473952" y="17007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or derived variables whose meaning is explicit, auditable and tied to evidence.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069080" y="2258568"/>
            <a:ext cx="224028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309360" y="2258568"/>
            <a:ext cx="493776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206240" y="2377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473952" y="2377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label: source variables, rule/model evidence and confidence or voter agreement.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069080" y="2935224"/>
            <a:ext cx="2240280" cy="676656"/>
          </a:xfrm>
          <a:prstGeom prst="rect">
            <a:avLst/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6309360" y="2935224"/>
            <a:ext cx="4937760" cy="676656"/>
          </a:xfrm>
          <a:prstGeom prst="rect">
            <a:avLst/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206240" y="30540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metadata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6473952" y="3054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Treatment, outcome, context and confounder definitions separated from model fitting.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069080" y="3611880"/>
            <a:ext cx="224028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6309360" y="3611880"/>
            <a:ext cx="493776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206240" y="37307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suite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6473952" y="3730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Prediction, robustness, permutation, sensitivity and domain sanity checks.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069080" y="4288536"/>
            <a:ext cx="2240280" cy="676656"/>
          </a:xfrm>
          <a:prstGeom prst="rect">
            <a:avLst/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6309360" y="4288536"/>
            <a:ext cx="4937760" cy="676656"/>
          </a:xfrm>
          <a:prstGeom prst="rect">
            <a:avLst/>
          </a:prstGeom>
          <a:solidFill>
            <a:srgbClr val="F7FAFC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4206240" y="4407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protocol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473952" y="4407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way to compare estimators under the same assumptions and labels.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069080" y="4965192"/>
            <a:ext cx="224028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Shape 38"/>
          <p:cNvSpPr/>
          <p:nvPr/>
        </p:nvSpPr>
        <p:spPr>
          <a:xfrm>
            <a:off x="6309360" y="4965192"/>
            <a:ext cx="493776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4206240" y="50840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package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6473952" y="5084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that states assumptions, proxy limitations and what is not claimed.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4069080" y="5797296"/>
            <a:ext cx="717804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7E0F4"/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CliniCause is a validated software pipeline that translates non-causal time-series measurements into a causal representation dataset.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70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M.Sc. thesis seminar  |  CATE estimates are model-based risk differences under assumptions</a:t>
            </a:r>
            <a:endParaRPr lang="en-US" sz="570" dirty="0"/>
          </a:p>
        </p:txBody>
      </p:sp>
      <p:sp>
        <p:nvSpPr>
          <p:cNvPr id="45" name="Text 43"/>
          <p:cNvSpPr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C6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5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08C3B667-342A-B661-6633-495571486A29}"/>
              </a:ext>
            </a:extLst>
          </p:cNvPr>
          <p:cNvSpPr/>
          <p:nvPr/>
        </p:nvSpPr>
        <p:spPr>
          <a:xfrm>
            <a:off x="502920" y="1139824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558CE3BC-DD26-9E3E-B1EB-B1D2C6FCBB47}"/>
              </a:ext>
            </a:extLst>
          </p:cNvPr>
          <p:cNvSpPr/>
          <p:nvPr/>
        </p:nvSpPr>
        <p:spPr>
          <a:xfrm>
            <a:off x="502920" y="741714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18">
            <a:extLst>
              <a:ext uri="{FF2B5EF4-FFF2-40B4-BE49-F238E27FC236}">
                <a16:creationId xmlns:a16="http://schemas.microsoft.com/office/drawing/2014/main" id="{C1AEB989-14B5-C1A0-C4AF-7FFF99A6F5D9}"/>
              </a:ext>
            </a:extLst>
          </p:cNvPr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extract_thesi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939" y="1417320"/>
            <a:ext cx="4234001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7871" y="1529284"/>
            <a:ext cx="2057400" cy="1874520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Patient-event contract
</a:t>
            </a:r>
            <a:r>
              <a:rPr lang="en-US" sz="13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</a:t>
            </a:r>
            <a:endParaRPr lang="en-US" sz="1450" dirty="0"/>
          </a:p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450" dirty="0"/>
          </a:p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450" dirty="0"/>
          </a:p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450" dirty="0"/>
          </a:p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794721" y="1529284"/>
            <a:ext cx="0" cy="1874520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8920991" y="2443684"/>
            <a:ext cx="1005840" cy="0"/>
          </a:xfrm>
          <a:prstGeom prst="line">
            <a:avLst/>
          </a:prstGeom>
          <a:noFill/>
          <a:ln w="15240">
            <a:solidFill>
              <a:srgbClr val="0F8B8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058400" y="2146504"/>
            <a:ext cx="1325880" cy="594360"/>
          </a:xfrm>
          <a:prstGeom prst="rect">
            <a:avLst/>
          </a:prstGeom>
          <a:solidFill>
            <a:srgbClr val="E8F7F6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patient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2423160" cy="914400"/>
          </a:xfrm>
          <a:prstGeom prst="rect">
            <a:avLst/>
          </a:prstGeom>
          <a:solidFill>
            <a:srgbClr val="F5F8FA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Irregular sampling
</a:t>
            </a:r>
            <a:r>
              <a:rPr lang="en-US" sz="10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variable is measured at different times and frequencies.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99810" y="4160520"/>
            <a:ext cx="0" cy="91440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520440" y="4160520"/>
            <a:ext cx="2788920" cy="914400"/>
          </a:xfrm>
          <a:prstGeom prst="rect">
            <a:avLst/>
          </a:prstGeom>
          <a:solidFill>
            <a:srgbClr val="F5F8FA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Informative missingness
</a:t>
            </a:r>
            <a:r>
              <a:rPr lang="en-US" sz="10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can reflect stability, measurement policy, or clinical choice.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497290" y="4160520"/>
            <a:ext cx="0" cy="9144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629400" y="4160520"/>
            <a:ext cx="2880360" cy="914400"/>
          </a:xfrm>
          <a:prstGeom prst="rect">
            <a:avLst/>
          </a:prstGeom>
          <a:solidFill>
            <a:srgbClr val="F5F8FA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Fragile aggregation
</a:t>
            </a:r>
            <a:r>
              <a:rPr lang="en-US" sz="10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grids and summaries can hide timing and measurement decisions.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06250" y="4160520"/>
            <a:ext cx="0" cy="914400"/>
          </a:xfrm>
          <a:prstGeom prst="line">
            <a:avLst/>
          </a:prstGeom>
          <a:noFill/>
          <a:ln w="381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58368" y="5490689"/>
            <a:ext cx="10881360" cy="41148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ICU signals reflect measurement processes; they do not yet define causal variables or causal relationships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ICU IRREGULARITY + CAUSAL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65760"/>
            <a:ext cx="7529625" cy="26776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r>
              <a:rPr lang="en-US" sz="1620" b="1" dirty="0">
                <a:solidFill>
                  <a:srgbClr val="0C2D46"/>
                </a:solidFill>
              </a:rPr>
              <a:t>Introducing ICU data: irregular multivariate measurements, not causal variables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12064" y="1389888"/>
            <a:ext cx="1115568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3950208" y="1719072"/>
            <a:ext cx="4279392" cy="868680"/>
          </a:xfrm>
          <a:prstGeom prst="rect">
            <a:avLst/>
          </a:prstGeom>
          <a:solidFill>
            <a:srgbClr val="FFF4E8"/>
          </a:solidFill>
          <a:ln w="15240">
            <a:solidFill>
              <a:srgbClr val="E66A1A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Underlying condition
diabetes / shock / organ failure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7824" y="3383280"/>
            <a:ext cx="3977640" cy="859536"/>
          </a:xfrm>
          <a:prstGeom prst="rect">
            <a:avLst/>
          </a:prstGeom>
          <a:solidFill>
            <a:srgbClr val="EAF3FA"/>
          </a:solidFill>
          <a:ln w="15240">
            <a:solidFill>
              <a:srgbClr val="0B5FA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measurements
glucose, MAP, lactate, creatinine...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42632" y="3383280"/>
            <a:ext cx="3977640" cy="859536"/>
          </a:xfrm>
          <a:prstGeom prst="rect">
            <a:avLst/>
          </a:prstGeom>
          <a:solidFill>
            <a:srgbClr val="EAF7EF"/>
          </a:solidFill>
          <a:ln w="15240">
            <a:solidFill>
              <a:srgbClr val="1D8B5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
mortality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 rot="8100000">
            <a:off x="3172968" y="2852928"/>
            <a:ext cx="530352" cy="210312"/>
          </a:xfrm>
          <a:prstGeom prst="rightArrow">
            <a:avLst/>
          </a:prstGeom>
          <a:solidFill>
            <a:srgbClr val="E66A1A"/>
          </a:solidFill>
          <a:ln w="12700">
            <a:solidFill>
              <a:srgbClr val="E66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 rot="2700000">
            <a:off x="8503920" y="2852928"/>
            <a:ext cx="530352" cy="210312"/>
          </a:xfrm>
          <a:prstGeom prst="rightArrow">
            <a:avLst/>
          </a:prstGeom>
          <a:solidFill>
            <a:srgbClr val="E66A1A"/>
          </a:solidFill>
          <a:ln w="12700">
            <a:solidFill>
              <a:srgbClr val="E66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074920" y="3950208"/>
            <a:ext cx="2057400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928616" y="33101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association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necessarily causation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4443984"/>
            <a:ext cx="9921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7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example: diabetes or illness severity can drive both glucose patterns and mortality; glucose itself is a proxy, not the causal target.</a:t>
            </a:r>
            <a:endParaRPr lang="en-US" sz="1570" dirty="0"/>
          </a:p>
        </p:txBody>
      </p:sp>
      <p:sp>
        <p:nvSpPr>
          <p:cNvPr id="13" name="Text 11"/>
          <p:cNvSpPr/>
          <p:nvPr/>
        </p:nvSpPr>
        <p:spPr>
          <a:xfrm>
            <a:off x="960120" y="5010912"/>
            <a:ext cx="3154680" cy="804672"/>
          </a:xfrm>
          <a:prstGeom prst="rect">
            <a:avLst/>
          </a:prstGeom>
          <a:solidFill>
            <a:srgbClr val="FFF4E8"/>
          </a:solidFill>
          <a:ln w="10160">
            <a:solidFill>
              <a:srgbClr val="D6E1EA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risk
</a:t>
            </a:r>
            <a:r>
              <a:rPr lang="en-US" sz="1020" dirty="0">
                <a:solidFill>
                  <a:srgbClr val="5A6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measurements as treatments can confuse symptoms, mediators and confounders.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5010912"/>
            <a:ext cx="36576" cy="804672"/>
          </a:xfrm>
          <a:prstGeom prst="rect">
            <a:avLst/>
          </a:prstGeom>
          <a:solidFill>
            <a:srgbClr val="E66A1A"/>
          </a:solidFill>
          <a:ln w="12700">
            <a:solidFill>
              <a:srgbClr val="E66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507992" y="5010912"/>
            <a:ext cx="3154680" cy="804672"/>
          </a:xfrm>
          <a:prstGeom prst="rect">
            <a:avLst/>
          </a:prstGeom>
          <a:solidFill>
            <a:srgbClr val="F1EDFF"/>
          </a:solidFill>
          <a:ln w="10160">
            <a:solidFill>
              <a:srgbClr val="D6E1EA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risk
</a:t>
            </a:r>
            <a:r>
              <a:rPr lang="en-US" sz="1020" dirty="0">
                <a:solidFill>
                  <a:srgbClr val="5A6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variable may become abnormal after the latent illness process has already started.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07992" y="5010912"/>
            <a:ext cx="36576" cy="804672"/>
          </a:xfrm>
          <a:prstGeom prst="rect">
            <a:avLst/>
          </a:prstGeom>
          <a:solidFill>
            <a:srgbClr val="6D4CC2"/>
          </a:solidFill>
          <a:ln w="12700">
            <a:solidFill>
              <a:srgbClr val="6D4C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065008" y="5010912"/>
            <a:ext cx="3154680" cy="804672"/>
          </a:xfrm>
          <a:prstGeom prst="rect">
            <a:avLst/>
          </a:prstGeom>
          <a:solidFill>
            <a:srgbClr val="E7F6F5"/>
          </a:solidFill>
          <a:ln w="10160">
            <a:solidFill>
              <a:srgbClr val="D6E1EA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risk
</a:t>
            </a:r>
            <a:r>
              <a:rPr lang="en-US" sz="1020" dirty="0">
                <a:solidFill>
                  <a:srgbClr val="5A6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causal target is unclear unless we first define clinically meaningful states.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65008" y="5010912"/>
            <a:ext cx="36576" cy="80467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58368" y="6144768"/>
            <a:ext cx="10899648" cy="320040"/>
          </a:xfrm>
          <a:prstGeom prst="rect">
            <a:avLst/>
          </a:prstGeom>
          <a:solidFill>
            <a:srgbClr val="EAF4FB"/>
          </a:solidFill>
          <a:ln w="8890">
            <a:solidFill>
              <a:srgbClr val="B7D4EA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move: define latent clinical states as causal variables, then estimate their effects on mortality.</a:t>
            </a:r>
            <a:endParaRPr lang="en-US" sz="1450" dirty="0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ICU IRREGULARITY + CAUSAL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Most raw clinical variables are symptoms or proxies, not causal variables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371600"/>
            <a:ext cx="11201400" cy="0"/>
          </a:xfrm>
          <a:prstGeom prst="line">
            <a:avLst/>
          </a:prstGeom>
          <a:noFill/>
          <a:ln w="10160">
            <a:solidFill>
              <a:srgbClr val="CBD8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58368" y="1700784"/>
            <a:ext cx="1997964" cy="425196"/>
          </a:xfrm>
          <a:prstGeom prst="rect">
            <a:avLst/>
          </a:prstGeom>
          <a:solidFill>
            <a:srgbClr val="18324A"/>
          </a:solidFill>
          <a:ln w="5080">
            <a:solidFill>
              <a:srgbClr val="CBD8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70048" y="1700784"/>
            <a:ext cx="4329684" cy="425196"/>
          </a:xfrm>
          <a:prstGeom prst="rect">
            <a:avLst/>
          </a:prstGeom>
          <a:solidFill>
            <a:srgbClr val="18324A"/>
          </a:solidFill>
          <a:ln w="5080">
            <a:solidFill>
              <a:srgbClr val="CBD8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PhysioNet 2012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13448" y="1700784"/>
            <a:ext cx="4649724" cy="425196"/>
          </a:xfrm>
          <a:prstGeom prst="rect">
            <a:avLst/>
          </a:prstGeom>
          <a:solidFill>
            <a:srgbClr val="18324A"/>
          </a:solidFill>
          <a:ln w="5080">
            <a:solidFill>
              <a:srgbClr val="CBD8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MIMIC-III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139696"/>
            <a:ext cx="1997964" cy="498348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/ type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670048" y="2139696"/>
            <a:ext cx="4329684" cy="498348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PhysioNet / Computing in Cardiology ICU challenge dataset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013448" y="2139696"/>
            <a:ext cx="4649724" cy="498348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single-center critical-care database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58368" y="2651760"/>
            <a:ext cx="1997964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window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670048" y="2651760"/>
            <a:ext cx="4329684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48 hours of ICU stay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013448" y="2651760"/>
            <a:ext cx="4649724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ICU vitals, labs, interventions and clinical records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58368" y="3163824"/>
            <a:ext cx="1997964" cy="498348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670048" y="3163824"/>
            <a:ext cx="4329684" cy="498348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In-hospital mortality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013448" y="3163824"/>
            <a:ext cx="4649724" cy="498348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In-hospital mortality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58368" y="3675888"/>
            <a:ext cx="1997964" cy="5715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cohort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2670048" y="3675888"/>
            <a:ext cx="4329684" cy="5715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7,993 after project filtering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7013448" y="3675888"/>
            <a:ext cx="4649724" cy="5715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26,845 in the project cohort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58368" y="4261104"/>
            <a:ext cx="1997964" cy="571500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signal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670048" y="4261104"/>
            <a:ext cx="4329684" cy="571500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 and labs; compact benchmark-like structure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7013448" y="4261104"/>
            <a:ext cx="4649724" cy="571500"/>
          </a:xfrm>
          <a:prstGeom prst="rect">
            <a:avLst/>
          </a:prstGeom>
          <a:solidFill>
            <a:srgbClr val="F7FAFC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Vitals, labs, interventions and richer clinical context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58368" y="4846320"/>
            <a:ext cx="1997964" cy="5715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thesis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670048" y="4846320"/>
            <a:ext cx="4329684" cy="5715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external-style benchmark for pipeline validation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7013448" y="4846320"/>
            <a:ext cx="4649724" cy="5715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8E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cohort for scale, robustness and clinical variation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658368" y="5522976"/>
            <a:ext cx="224028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7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patient-event contract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80944" y="5522976"/>
            <a:ext cx="1234440" cy="365760"/>
          </a:xfrm>
          <a:prstGeom prst="rect">
            <a:avLst/>
          </a:prstGeom>
          <a:solidFill>
            <a:srgbClr val="EAF4FB"/>
          </a:solidFill>
          <a:ln w="10160">
            <a:solidFill>
              <a:srgbClr val="1F6D9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06824" y="5522976"/>
            <a:ext cx="731520" cy="365760"/>
          </a:xfrm>
          <a:prstGeom prst="rect">
            <a:avLst/>
          </a:prstGeom>
          <a:solidFill>
            <a:srgbClr val="E7F6F5"/>
          </a:solidFill>
          <a:ln w="10160">
            <a:solidFill>
              <a:srgbClr val="0A8F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29784" y="5522976"/>
            <a:ext cx="960120" cy="365760"/>
          </a:xfrm>
          <a:prstGeom prst="rect">
            <a:avLst/>
          </a:prstGeom>
          <a:solidFill>
            <a:srgbClr val="EAF4FB"/>
          </a:solidFill>
          <a:ln w="10160">
            <a:solidFill>
              <a:srgbClr val="1F6D9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81344" y="5522976"/>
            <a:ext cx="777240" cy="365760"/>
          </a:xfrm>
          <a:prstGeom prst="rect">
            <a:avLst/>
          </a:prstGeom>
          <a:solidFill>
            <a:srgbClr val="E7F6F5"/>
          </a:solidFill>
          <a:ln w="10160">
            <a:solidFill>
              <a:srgbClr val="0A8F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50024" y="5522976"/>
            <a:ext cx="914400" cy="365760"/>
          </a:xfrm>
          <a:prstGeom prst="rect">
            <a:avLst/>
          </a:prstGeom>
          <a:solidFill>
            <a:srgbClr val="EAF4FB"/>
          </a:solidFill>
          <a:ln w="10160">
            <a:solidFill>
              <a:srgbClr val="1F6D9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" y="5943600"/>
            <a:ext cx="1088136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2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datasets are normalized into the same downstream interface before latent-state labeling and causal analysis.</a:t>
            </a:r>
            <a:endParaRPr lang="en-US" sz="108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ENGINEERING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Two ICU datasets, one shared patient-event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extract_thesi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0505"/>
            <a:ext cx="4983480" cy="2799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4297680" cy="749808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original columns
</a:t>
            </a:r>
            <a:r>
              <a:rPr lang="en-US" sz="12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not MAP, creatinine, glucose or platelet values.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89040" y="1508760"/>
            <a:ext cx="0" cy="749808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309360" y="2514600"/>
            <a:ext cx="4297680" cy="749808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abstractions
</a:t>
            </a:r>
            <a:r>
              <a:rPr lang="en-US" sz="12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represent clinically meaningful illness states correlated with many measurements.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89040" y="2514600"/>
            <a:ext cx="0" cy="749808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309360" y="3520440"/>
            <a:ext cx="4297680" cy="749808"/>
          </a:xfrm>
          <a:prstGeom prst="rect">
            <a:avLst/>
          </a:prstGeom>
          <a:solidFill>
            <a:srgbClr val="FFF4E8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Estimator interface
</a:t>
            </a:r>
            <a:r>
              <a:rPr lang="en-US" sz="12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create a binary treatment-like variable T for DAG adjustment and CATE estimation.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89040" y="3520440"/>
            <a:ext cx="0" cy="749808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58368" y="5065222"/>
            <a:ext cx="10881360" cy="41148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states define what causality means in this environment</a:t>
            </a:r>
            <a:endParaRPr lang="en-US" sz="1550" dirty="0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ENGINEERING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Latent variables are the causal bridge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extract_thesi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785" y="1417320"/>
            <a:ext cx="4656749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645920"/>
            <a:ext cx="4297680" cy="822960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measurements
</a:t>
            </a:r>
            <a:r>
              <a:rPr lang="en-US" sz="10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MAP, lactate, creatinine, urine output, SpO₂, bilirubin...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09080" y="1645920"/>
            <a:ext cx="0" cy="822960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629400" y="2743200"/>
            <a:ext cx="4297680" cy="822960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logic
</a:t>
            </a:r>
            <a:r>
              <a:rPr lang="en-US" sz="10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Thresholds, timing, combinations and minimum evidence requirements.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09080" y="2743200"/>
            <a:ext cx="0" cy="82296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629400" y="3840480"/>
            <a:ext cx="4297680" cy="822960"/>
          </a:xfrm>
          <a:prstGeom prst="rect">
            <a:avLst/>
          </a:prstGeom>
          <a:solidFill>
            <a:srgbClr val="FFF4E8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tag
</a:t>
            </a:r>
            <a:r>
              <a:rPr lang="en-US" sz="10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proxy state such as shock, renal dysfunction or respiratory failure.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09080" y="3840480"/>
            <a:ext cx="0" cy="82296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8368" y="5779008"/>
            <a:ext cx="10881360" cy="41148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make the first labels inspectable: each positive tag can be traced back to evidence</a:t>
            </a:r>
            <a:endParaRPr lang="en-US" sz="155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LABELS BUILT AND REFINED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Decision trees translate raw proxies into causal latent variables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extract_thesi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67" y="1325880"/>
            <a:ext cx="635010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600200"/>
            <a:ext cx="3474720" cy="1417320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one approach?
</a:t>
            </a:r>
            <a:r>
              <a:rPr lang="en-US" sz="12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transparent but brittle.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can learn context but inherit label noise.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architecture sees the sequence differently.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604760" y="1600200"/>
            <a:ext cx="0" cy="1417320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35240" y="3337560"/>
            <a:ext cx="3474720" cy="1234440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109728" tIns="73152" bIns="73152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sz="1800" b="1">
                <a:solidFill>
                  <a:srgbClr val="142741"/>
                </a:solidFill>
                <a:latin typeface="Aptos"/>
              </a:rPr>
              <a:t>What each voter contributes</a:t>
            </a:r>
            <a:endParaRPr lang="en-US" sz="1450" dirty="0"/>
          </a:p>
          <a:p>
            <a:pPr>
              <a:spcBef>
                <a:spcPts val="200"/>
              </a:spcBef>
              <a:spcAft>
                <a:spcPts val="0"/>
              </a:spcAft>
              <a:defRPr sz="1400"/>
            </a:pPr>
            <a:r>
              <a:rPr sz="1400" b="1">
                <a:solidFill>
                  <a:srgbClr val="157484"/>
                </a:solidFill>
                <a:latin typeface="Aptos"/>
              </a:rPr>
              <a:t>Rules: </a:t>
            </a:r>
            <a:r>
              <a:rPr sz="1400" b="0">
                <a:solidFill>
                  <a:srgbClr val="546170"/>
                </a:solidFill>
                <a:latin typeface="Aptos"/>
              </a:rPr>
              <a:t>transparent clinical anchor for auditable proxy labels.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400"/>
            </a:pPr>
            <a:r>
              <a:rPr sz="1400" b="1">
                <a:solidFill>
                  <a:srgbClr val="157484"/>
                </a:solidFill>
                <a:latin typeface="Aptos"/>
              </a:rPr>
              <a:t>STraTS: </a:t>
            </a:r>
            <a:r>
              <a:rPr sz="1400" b="0">
                <a:solidFill>
                  <a:srgbClr val="546170"/>
                </a:solidFill>
                <a:latin typeface="Aptos"/>
              </a:rPr>
              <a:t>raw-event context without forcing a dense grid.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400"/>
            </a:pPr>
            <a:r>
              <a:rPr sz="1400" b="1">
                <a:solidFill>
                  <a:srgbClr val="157484"/>
                </a:solidFill>
                <a:latin typeface="Aptos"/>
              </a:rPr>
              <a:t>TCN: </a:t>
            </a:r>
            <a:r>
              <a:rPr sz="1400" b="0">
                <a:solidFill>
                  <a:srgbClr val="546170"/>
                </a:solidFill>
                <a:latin typeface="Aptos"/>
              </a:rPr>
              <a:t>wide temporal patterns from convolutional memory.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400"/>
            </a:pPr>
            <a:r>
              <a:rPr sz="1400" b="1">
                <a:solidFill>
                  <a:srgbClr val="157484"/>
                </a:solidFill>
                <a:latin typeface="Aptos"/>
              </a:rPr>
              <a:t>GRU: </a:t>
            </a:r>
            <a:r>
              <a:rPr sz="1400" b="0">
                <a:solidFill>
                  <a:srgbClr val="546170"/>
                </a:solidFill>
                <a:latin typeface="Aptos"/>
              </a:rPr>
              <a:t>sequential baseline for patient-history consistency.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400"/>
            </a:pPr>
            <a:r>
              <a:rPr sz="1400" b="1">
                <a:solidFill>
                  <a:srgbClr val="157484"/>
                </a:solidFill>
                <a:latin typeface="Aptos"/>
              </a:rPr>
              <a:t>GRU-D: </a:t>
            </a:r>
            <a:r>
              <a:rPr sz="1400" b="0">
                <a:solidFill>
                  <a:srgbClr val="546170"/>
                </a:solidFill>
                <a:latin typeface="Aptos"/>
              </a:rPr>
              <a:t>missingness and elapsed-time signal.</a:t>
            </a:r>
          </a:p>
        </p:txBody>
      </p:sp>
      <p:sp>
        <p:nvSpPr>
          <p:cNvPr id="9" name="Shape 6"/>
          <p:cNvSpPr/>
          <p:nvPr/>
        </p:nvSpPr>
        <p:spPr>
          <a:xfrm>
            <a:off x="7604760" y="3337560"/>
            <a:ext cx="0" cy="123444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58368" y="5256492"/>
            <a:ext cx="10881360" cy="41148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ensemble reduces dependence on a single weak proxy, while the rule layer keeps labels auditable</a:t>
            </a:r>
            <a:endParaRPr lang="en-US" sz="155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LABELS BUILT AND REFINED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Majority vote improves robustness without replacing auditability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1298448"/>
            <a:ext cx="510235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2999232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345C"/>
                </a:solidFill>
                <a:latin typeface="Aptos"/>
              </a:rPr>
              <a:t>CausalForestDML: </a:t>
            </a:r>
            <a:r>
              <a:rPr sz="1050">
                <a:solidFill>
                  <a:srgbClr val="3C3C3C"/>
                </a:solidFill>
                <a:latin typeface="Aptos"/>
              </a:rPr>
              <a:t>Nonlinear heterogeneous effects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1298448"/>
            <a:ext cx="510235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inearDML_padded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371600"/>
            <a:ext cx="4956048" cy="16642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2999232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345C"/>
                </a:solidFill>
                <a:latin typeface="Aptos"/>
              </a:rPr>
              <a:t>LinearDML: </a:t>
            </a:r>
            <a:r>
              <a:rPr sz="1050">
                <a:solidFill>
                  <a:srgbClr val="3C3C3C"/>
                </a:solidFill>
                <a:latin typeface="Aptos"/>
              </a:rPr>
              <a:t>Simple orthogonalized effect surface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57600"/>
            <a:ext cx="510235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Matching_padded16x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3730752"/>
            <a:ext cx="4956048" cy="16642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8096" y="5358384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345C"/>
                </a:solidFill>
                <a:latin typeface="Aptos"/>
              </a:rPr>
              <a:t>Matching: </a:t>
            </a:r>
            <a:r>
              <a:rPr sz="1050">
                <a:solidFill>
                  <a:srgbClr val="3C3C3C"/>
                </a:solidFill>
                <a:latin typeface="Aptos"/>
              </a:rPr>
              <a:t>Transparent matched-pair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657600"/>
            <a:ext cx="510235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358384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345C"/>
                </a:solidFill>
                <a:latin typeface="Aptos"/>
              </a:rPr>
              <a:t>PFN: </a:t>
            </a:r>
            <a:r>
              <a:rPr sz="1050">
                <a:solidFill>
                  <a:srgbClr val="3C3C3C"/>
                </a:solidFill>
                <a:latin typeface="Aptos"/>
              </a:rPr>
              <a:t>External neural/foundation-style stress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76983"/>
            <a:ext cx="10881360" cy="33086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>
            <a:lvl1pPr algn="ctr">
              <a:defRPr sz="1550" b="1">
                <a:solidFill>
                  <a:srgbClr val="102A43"/>
                </a:solidFill>
                <a:latin typeface="Aptos" pitchFamily="34" charset="0"/>
              </a:defRPr>
            </a:lvl1pPr>
          </a:lstStyle>
          <a:p>
            <a:r>
              <a:rPr dirty="0"/>
              <a:t>Each estimator uses T, Y and the same DAG-adjusted confounder set W; differences reflect modeling assumptions.</a:t>
            </a:r>
          </a:p>
        </p:txBody>
      </p:sp>
      <p:pic>
        <p:nvPicPr>
          <p:cNvPr id="32" name="Picture 31" descr="CausalForestDML_W_padded16x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19" y="1371600"/>
            <a:ext cx="4956048" cy="1664208"/>
          </a:xfrm>
          <a:prstGeom prst="rect">
            <a:avLst/>
          </a:prstGeom>
        </p:spPr>
      </p:pic>
      <p:pic>
        <p:nvPicPr>
          <p:cNvPr id="33" name="Picture 32" descr="PFN_W_padded16x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730752"/>
            <a:ext cx="4956048" cy="1664208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CATE ESTIMATION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Four causal estimators stress-test the same DAG-adjusted latent 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12064" y="1289304"/>
            <a:ext cx="11173968" cy="0"/>
          </a:xfrm>
          <a:prstGeom prst="line">
            <a:avLst/>
          </a:prstGeom>
          <a:noFill/>
          <a:ln w="1016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/mnt/data/final_pptx_unzip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72768"/>
            <a:ext cx="5074920" cy="3611880"/>
          </a:xfrm>
          <a:prstGeom prst="rect">
            <a:avLst/>
          </a:prstGeom>
        </p:spPr>
      </p:pic>
      <p:pic>
        <p:nvPicPr>
          <p:cNvPr id="8" name="Image 1" descr="/mnt/data/final_pptx_unzip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572768"/>
            <a:ext cx="5349240" cy="3611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5248656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MIMIC-III full-cohort CATE ranking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327648" y="5248656"/>
            <a:ext cx="4663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PhysioNet full-cohort CATE ranking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96112" y="5650992"/>
            <a:ext cx="10378440" cy="420624"/>
          </a:xfrm>
          <a:prstGeom prst="rect">
            <a:avLst/>
          </a:prstGeom>
          <a:solidFill>
            <a:srgbClr val="EAF4FB"/>
          </a:solidFill>
          <a:ln w="9525">
            <a:solidFill>
              <a:srgbClr val="C8D4E3"/>
            </a:solidFill>
          </a:ln>
        </p:spPr>
        <p:txBody>
          <a:bodyPr wrap="square" lIns="1270" tIns="1270" rIns="1270" bIns="127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Read CATE bars as percentage-point mortality risk differences under the DAG, latent-label, and estimator assumptions.</a:t>
            </a:r>
            <a:endParaRPr lang="en-US" sz="155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Results: full-cohort CATE rankings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154680" cy="1005840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
</a:t>
            </a:r>
            <a:r>
              <a:rPr lang="en-US" sz="12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 rankings + mortality signal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2480" y="1691640"/>
            <a:ext cx="0" cy="1005840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26280" y="1691640"/>
            <a:ext cx="3154680" cy="1005840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
</a:t>
            </a:r>
            <a:r>
              <a:rPr lang="en-US" sz="12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across causal estimators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95800" y="1691640"/>
            <a:ext cx="0" cy="100584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0" y="1691640"/>
            <a:ext cx="3154680" cy="1005840"/>
          </a:xfrm>
          <a:prstGeom prst="rect">
            <a:avLst/>
          </a:prstGeom>
          <a:solidFill>
            <a:srgbClr val="FFF4E8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
</a:t>
            </a:r>
            <a:r>
              <a:rPr lang="en-US" sz="12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Effects collapse when labels/outcomes are shuffled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99120" y="1691640"/>
            <a:ext cx="0" cy="100584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154680" cy="1005840"/>
          </a:xfrm>
          <a:prstGeom prst="rect">
            <a:avLst/>
          </a:prstGeom>
          <a:solidFill>
            <a:srgbClr val="F1EDFF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
</a:t>
            </a:r>
            <a:r>
              <a:rPr lang="en-US" sz="12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Hidden-bias stress test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2480" y="3291840"/>
            <a:ext cx="0" cy="1005840"/>
          </a:xfrm>
          <a:prstGeom prst="line">
            <a:avLst/>
          </a:prstGeom>
          <a:noFill/>
          <a:ln w="381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154680" cy="1005840"/>
          </a:xfrm>
          <a:prstGeom prst="rect">
            <a:avLst/>
          </a:prstGeom>
          <a:solidFill>
            <a:srgbClr val="EAF7EF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evidence
</a:t>
            </a:r>
            <a:r>
              <a:rPr lang="en-US" sz="12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Plausibility and contradiction checks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95800" y="3291840"/>
            <a:ext cx="0" cy="1005840"/>
          </a:xfrm>
          <a:prstGeom prst="line">
            <a:avLst/>
          </a:prstGeom>
          <a:noFill/>
          <a:ln w="38100">
            <a:solidFill>
              <a:srgbClr val="2F85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0" y="3291840"/>
            <a:ext cx="31546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
</a:t>
            </a:r>
            <a:r>
              <a:rPr lang="en-US" sz="12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remain explicit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99120" y="3291840"/>
            <a:ext cx="0" cy="1005840"/>
          </a:xfrm>
          <a:prstGeom prst="line">
            <a:avLst/>
          </a:prstGeom>
          <a:noFill/>
          <a:ln w="38100">
            <a:solidFill>
              <a:srgbClr val="718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" y="5060545"/>
            <a:ext cx="10881360" cy="41148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sz="1550" b="1" dirty="0">
                <a:solidFill>
                  <a:srgbClr val="102A43"/>
                </a:solidFill>
                <a:latin typeface="Aptos" pitchFamily="34" charset="0"/>
              </a:rPr>
              <a:t>The</a:t>
            </a:r>
            <a:r>
              <a:rPr dirty="0">
                <a:solidFill>
                  <a:srgbClr val="15202B"/>
                </a:solidFill>
                <a:latin typeface="Aptos"/>
              </a:rPr>
              <a:t> </a:t>
            </a:r>
            <a:r>
              <a:rPr sz="1550" b="1" dirty="0">
                <a:solidFill>
                  <a:srgbClr val="102A43"/>
                </a:solidFill>
                <a:latin typeface="Aptos" pitchFamily="34" charset="0"/>
              </a:rPr>
              <a:t>thesis claim is reproducibility under explicit assumptions, supported by multiple validation 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What evidence supports the pipeline?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12064" y="1289304"/>
            <a:ext cx="11173968" cy="0"/>
          </a:xfrm>
          <a:prstGeom prst="line">
            <a:avLst/>
          </a:prstGeom>
          <a:noFill/>
          <a:ln w="1016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/mnt/data/final_pptx_unzip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5806440" cy="3364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76288" y="1673352"/>
            <a:ext cx="4407408" cy="3127248"/>
          </a:xfrm>
          <a:prstGeom prst="rect">
            <a:avLst/>
          </a:prstGeom>
          <a:solidFill>
            <a:srgbClr val="F5F7FA"/>
          </a:solidFill>
          <a:ln w="8255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Parsed source: </a:t>
            </a:r>
            <a:r>
              <a:rPr lang="en-US" sz="142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12 saved output folders; test metrics only.
</a:t>
            </a:r>
            <a:r>
              <a:rPr lang="en-US" sz="142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MIMIC-III signal: </a:t>
            </a:r>
            <a:r>
              <a:rPr lang="en-US" sz="142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AUROC ≈ 0.83 and AUPRC ≈ 0.42 across logistic and MLP checks.
</a:t>
            </a:r>
            <a:r>
              <a:rPr lang="en-US" sz="142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PhysioNet signal: </a:t>
            </a:r>
            <a:r>
              <a:rPr lang="en-US" sz="142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AUROC ≈ 0.74 and AUPRC ≈ 0.31–0.34; weaker but still informative.
</a:t>
            </a:r>
            <a:r>
              <a:rPr lang="en-US" sz="142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Interpretation: </a:t>
            </a:r>
            <a:r>
              <a:rPr lang="en-US" sz="142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This supports the latent representation as a predictive patient-state summary; it is not causal proof.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932688" y="5260041"/>
            <a:ext cx="10241280" cy="457200"/>
          </a:xfrm>
          <a:prstGeom prst="rect">
            <a:avLst/>
          </a:prstGeom>
          <a:solidFill>
            <a:srgbClr val="EAF4FB"/>
          </a:solidFill>
          <a:ln w="9525">
            <a:solidFill>
              <a:srgbClr val="C8D4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Mortality prediction checks whether the engineered latent states preserve outcome-relevant signal.</a:t>
            </a:r>
            <a:endParaRPr lang="en-US" sz="155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Outcome check: latent tags retain mortality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/mnt/data/current_unzip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914" y="1554480"/>
            <a:ext cx="7221428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5815584"/>
            <a:ext cx="10881360" cy="420624"/>
          </a:xfrm>
          <a:prstGeom prst="rect">
            <a:avLst/>
          </a:prstGeom>
          <a:solidFill>
            <a:srgbClr val="EAF4FB"/>
          </a:solidFill>
          <a:ln w="9525">
            <a:solidFill>
              <a:srgbClr val="B9D4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822960" y="5879592"/>
            <a:ext cx="10552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stability is stronger evidence than exact numerical agreement.</a:t>
            </a:r>
            <a:endParaRPr lang="en-US" sz="17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Cross-model direction stability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12064" y="1289304"/>
            <a:ext cx="11173968" cy="0"/>
          </a:xfrm>
          <a:prstGeom prst="line">
            <a:avLst/>
          </a:prstGeom>
          <a:noFill/>
          <a:ln w="1016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/mnt/data/final_pptx_unzip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81328"/>
            <a:ext cx="644652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18704" y="1682496"/>
            <a:ext cx="3072384" cy="1188720"/>
          </a:xfrm>
          <a:prstGeom prst="rect">
            <a:avLst/>
          </a:prstGeom>
          <a:solidFill>
            <a:srgbClr val="EAF7F5"/>
          </a:solidFill>
          <a:ln w="8255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is shuffled?
</a:t>
            </a:r>
            <a:r>
              <a:rPr lang="en-US" sz="142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Treatment shuffle breaks state assignment; outcome shuffle breaks the mortality relationship while preserving marginal structure.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7918704" y="1682496"/>
            <a:ext cx="32004" cy="118872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918704" y="3218688"/>
            <a:ext cx="3072384" cy="1133856"/>
          </a:xfrm>
          <a:prstGeom prst="rect">
            <a:avLst/>
          </a:prstGeom>
          <a:solidFill>
            <a:srgbClr val="FFF2E7"/>
          </a:solidFill>
          <a:ln w="8255">
            <a:solidFill>
              <a:srgbClr val="C8D4E3"/>
            </a:solidFill>
          </a:ln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Expected behavior
</a:t>
            </a:r>
            <a:r>
              <a:rPr lang="en-US" sz="142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Estimated effects should collapse toward the null if the pipeline is detecting real structure rather than arbitrary labels.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7918704" y="3218688"/>
            <a:ext cx="32004" cy="113385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960120" y="5522976"/>
            <a:ext cx="10287000" cy="493776"/>
          </a:xfrm>
          <a:prstGeom prst="rect">
            <a:avLst/>
          </a:prstGeom>
          <a:solidFill>
            <a:srgbClr val="EAF4FB"/>
          </a:solidFill>
          <a:ln w="9525">
            <a:solidFill>
              <a:srgbClr val="C8D4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Permutation tests proves that the causal models did not hallucinate CATE values</a:t>
            </a:r>
            <a:endParaRPr lang="en-US" sz="155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Validation: permutation 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Medical literature supports most positive CATE directions — and flags two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877824"/>
            <a:ext cx="10835640" cy="292608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150" b="0">
                <a:solidFill>
                  <a:srgbClr val="5C6E78"/>
                </a:solidFill>
                <a:latin typeface="Aptos"/>
              </a:rPr>
              <a:t>The report compares estimated CATE patterns against clinical mortality gradients. These are sanity checks, not proof of causal magnitude.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6629400" cy="329184"/>
          </a:xfrm>
          <a:prstGeom prst="rect">
            <a:avLst/>
          </a:prstGeom>
          <a:solidFill>
            <a:srgbClr val="E9F6EE"/>
          </a:solidFill>
          <a:ln w="6350">
            <a:solidFill>
              <a:srgbClr val="BE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1490472"/>
            <a:ext cx="621792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Aptos"/>
              </a:rPr>
              <a:t>Evidence supporting key positive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417320"/>
            <a:ext cx="3794760" cy="329184"/>
          </a:xfrm>
          <a:prstGeom prst="rect">
            <a:avLst/>
          </a:prstGeom>
          <a:solidFill>
            <a:srgbClr val="FFF2E5"/>
          </a:solidFill>
          <a:ln w="6350">
            <a:solidFill>
              <a:srgbClr val="EBC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1490472"/>
            <a:ext cx="338328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050" b="1">
                <a:solidFill>
                  <a:srgbClr val="E9632D"/>
                </a:solidFill>
                <a:latin typeface="Aptos"/>
              </a:rPr>
              <a:t>Evidence-based red flags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874519"/>
            <a:ext cx="6629400" cy="694944"/>
          </a:xfrm>
          <a:prstGeom prst="rect">
            <a:avLst/>
          </a:prstGeom>
          <a:solidFill>
            <a:srgbClr val="F8FBFD"/>
          </a:solidFill>
          <a:ln w="6350"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1874519"/>
            <a:ext cx="50292" cy="6949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993391"/>
            <a:ext cx="1508760" cy="25603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000" b="1">
                <a:solidFill>
                  <a:srgbClr val="0C2D46"/>
                </a:solidFill>
                <a:latin typeface="Aptos"/>
              </a:rPr>
              <a:t>Renal / AKI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920239"/>
            <a:ext cx="4800600" cy="566928"/>
          </a:xfrm>
          <a:prstGeom prst="rect">
            <a:avLst/>
          </a:prstGeom>
          <a:noFill/>
        </p:spPr>
        <p:txBody>
          <a:bodyPr wrap="square" lIns="73152" tIns="54864" rIns="73152" bIns="54864">
            <a:normAutofit/>
          </a:bodyPr>
          <a:lstStyle/>
          <a:p>
            <a:pPr>
              <a:spcAft>
                <a:spcPts val="200"/>
              </a:spcAft>
            </a:pPr>
            <a:r>
              <a:rPr sz="840" b="0">
                <a:solidFill>
                  <a:srgbClr val="15202B"/>
                </a:solidFill>
                <a:latin typeface="Aptos"/>
              </a:rPr>
              <a:t>KDIGO defines AKI by creatinine / urine output; AKI-EPI shows mortality odds rising by stage, with stage 3 OR 6.884. In septic ICU patients, stage 3 AKI contributed ≈16.8 pp 30-day mortality. [S04–S06]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624327"/>
            <a:ext cx="66294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2624327"/>
            <a:ext cx="50292" cy="6949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743199"/>
            <a:ext cx="1508760" cy="25603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000" b="1">
                <a:solidFill>
                  <a:srgbClr val="0C2D46"/>
                </a:solidFill>
                <a:latin typeface="Aptos"/>
              </a:rPr>
              <a:t>Hepatic / bilirubin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2670047"/>
            <a:ext cx="4800600" cy="566928"/>
          </a:xfrm>
          <a:prstGeom prst="rect">
            <a:avLst/>
          </a:prstGeom>
          <a:noFill/>
        </p:spPr>
        <p:txBody>
          <a:bodyPr wrap="square" lIns="73152" tIns="54864" rIns="73152" bIns="54864">
            <a:normAutofit/>
          </a:bodyPr>
          <a:lstStyle/>
          <a:p>
            <a:pPr>
              <a:spcAft>
                <a:spcPts val="200"/>
              </a:spcAft>
            </a:pPr>
            <a:r>
              <a:rPr sz="840" b="0">
                <a:solidFill>
                  <a:srgbClr val="15202B"/>
                </a:solidFill>
                <a:latin typeface="Aptos"/>
              </a:rPr>
              <a:t>ICU bilirubin studies show clear mortality gradients: bilirubin &gt;1 mg/dL had 30% vs 21% mortality; bilirubin ≥2 mg/dL had 31.9% vs 17.0% mortality in MIMIC-III. [S08–S09]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74135"/>
            <a:ext cx="6629400" cy="694944"/>
          </a:xfrm>
          <a:prstGeom prst="rect">
            <a:avLst/>
          </a:prstGeom>
          <a:solidFill>
            <a:srgbClr val="F8FBFD"/>
          </a:solidFill>
          <a:ln w="6350"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3374135"/>
            <a:ext cx="50292" cy="6949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493007"/>
            <a:ext cx="1508760" cy="25603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000" b="1">
                <a:solidFill>
                  <a:srgbClr val="0C2D46"/>
                </a:solidFill>
                <a:latin typeface="Aptos"/>
              </a:rPr>
              <a:t>Cardiac strain / injury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419855"/>
            <a:ext cx="4800600" cy="566928"/>
          </a:xfrm>
          <a:prstGeom prst="rect">
            <a:avLst/>
          </a:prstGeom>
          <a:noFill/>
        </p:spPr>
        <p:txBody>
          <a:bodyPr wrap="square" lIns="73152" tIns="54864" rIns="73152" bIns="54864">
            <a:normAutofit/>
          </a:bodyPr>
          <a:lstStyle/>
          <a:p>
            <a:pPr>
              <a:spcAft>
                <a:spcPts val="200"/>
              </a:spcAft>
            </a:pPr>
            <a:r>
              <a:rPr sz="840" b="0">
                <a:solidFill>
                  <a:srgbClr val="15202B"/>
                </a:solidFill>
                <a:latin typeface="Aptos"/>
              </a:rPr>
              <a:t>Elevated ICU troponin is common and prognostic: median 43% prevalence in ICU studies, adjusted mortality OR 2.5; in sepsis, elevated troponin HR 1.57. [S18–S19]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123944"/>
            <a:ext cx="66294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4123944"/>
            <a:ext cx="50292" cy="6949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242816"/>
            <a:ext cx="1508760" cy="25603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000" b="1">
                <a:solidFill>
                  <a:srgbClr val="0C2D46"/>
                </a:solidFill>
                <a:latin typeface="Aptos"/>
              </a:rPr>
              <a:t>Sepsis / global severity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169663"/>
            <a:ext cx="4800600" cy="566928"/>
          </a:xfrm>
          <a:prstGeom prst="rect">
            <a:avLst/>
          </a:prstGeom>
          <a:noFill/>
        </p:spPr>
        <p:txBody>
          <a:bodyPr wrap="square" lIns="73152" tIns="54864" rIns="73152" bIns="54864">
            <a:normAutofit/>
          </a:bodyPr>
          <a:lstStyle/>
          <a:p>
            <a:pPr>
              <a:spcAft>
                <a:spcPts val="200"/>
              </a:spcAft>
            </a:pPr>
            <a:r>
              <a:rPr sz="840" b="0">
                <a:solidFill>
                  <a:srgbClr val="15202B"/>
                </a:solidFill>
                <a:latin typeface="Aptos"/>
              </a:rPr>
              <a:t>Sepsis-3 links organ dysfunction to &gt;10% in-hospital mortality; SOFA was designed to describe organ dysfunction/failure and component failures are mortality-associated. [S01,S03,S15]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1874519"/>
            <a:ext cx="3794760" cy="1234440"/>
          </a:xfrm>
          <a:prstGeom prst="rect">
            <a:avLst/>
          </a:prstGeom>
          <a:solidFill>
            <a:srgbClr val="FFF2E5"/>
          </a:solidFill>
          <a:ln w="6350">
            <a:solidFill>
              <a:srgbClr val="E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43800" y="1874519"/>
            <a:ext cx="54864" cy="1234440"/>
          </a:xfrm>
          <a:prstGeom prst="rect">
            <a:avLst/>
          </a:prstGeom>
          <a:solidFill>
            <a:srgbClr val="E9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08392" y="1984248"/>
            <a:ext cx="3383280" cy="201168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0C2D46"/>
                </a:solidFill>
                <a:latin typeface="Aptos"/>
              </a:rPr>
              <a:t>⚠ Shock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2267712"/>
            <a:ext cx="3337560" cy="685800"/>
          </a:xfrm>
          <a:prstGeom prst="rect">
            <a:avLst/>
          </a:prstGeom>
          <a:noFill/>
        </p:spPr>
        <p:txBody>
          <a:bodyPr wrap="square" lIns="73152" tIns="54864" rIns="73152" bIns="54864">
            <a:normAutofit/>
          </a:bodyPr>
          <a:lstStyle/>
          <a:p>
            <a:pPr>
              <a:spcAft>
                <a:spcPts val="200"/>
              </a:spcAft>
            </a:pPr>
            <a:r>
              <a:rPr sz="830" b="0">
                <a:solidFill>
                  <a:srgbClr val="15202B"/>
                </a:solidFill>
                <a:latin typeface="Aptos"/>
              </a:rPr>
              <a:t>Sepsis-3 septic shock requires vasopressors + lactate &gt;2 mmol/L and reports hospital mortality &gt;40%. But shock CATE is low in MIMIC and negative in PhysioNet → proxy / mediator audit needed. [S01,S02]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291839"/>
            <a:ext cx="3794760" cy="1234440"/>
          </a:xfrm>
          <a:prstGeom prst="rect">
            <a:avLst/>
          </a:prstGeom>
          <a:solidFill>
            <a:srgbClr val="FFF2E5"/>
          </a:solidFill>
          <a:ln w="6350">
            <a:solidFill>
              <a:srgbClr val="E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43800" y="3291839"/>
            <a:ext cx="54864" cy="1234440"/>
          </a:xfrm>
          <a:prstGeom prst="rect">
            <a:avLst/>
          </a:prstGeom>
          <a:solidFill>
            <a:srgbClr val="E9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08392" y="3401568"/>
            <a:ext cx="3383280" cy="201168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0C2D46"/>
                </a:solidFill>
                <a:latin typeface="Aptos"/>
              </a:rPr>
              <a:t>⚠ PhysioNet heme/coag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685031"/>
            <a:ext cx="3337560" cy="685800"/>
          </a:xfrm>
          <a:prstGeom prst="rect">
            <a:avLst/>
          </a:prstGeom>
          <a:noFill/>
        </p:spPr>
        <p:txBody>
          <a:bodyPr wrap="square" lIns="73152" tIns="54864" rIns="73152" bIns="54864">
            <a:normAutofit/>
          </a:bodyPr>
          <a:lstStyle/>
          <a:p>
            <a:pPr>
              <a:spcAft>
                <a:spcPts val="200"/>
              </a:spcAft>
            </a:pPr>
            <a:r>
              <a:rPr sz="830" b="0">
                <a:solidFill>
                  <a:srgbClr val="15202B"/>
                </a:solidFill>
                <a:latin typeface="Aptos"/>
              </a:rPr>
              <a:t>PLOT-ICU: thrombocytopenia mortality 34.6% vs 19.3%; severe cases ≈51–52%. Near-zero / negative PhysioNet heme CATE is not validated until the label is audited. [S12,S13]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350176"/>
            <a:ext cx="10771632" cy="475488"/>
          </a:xfrm>
          <a:prstGeom prst="rect">
            <a:avLst/>
          </a:prstGeom>
          <a:solidFill>
            <a:srgbClr val="E8F4FA"/>
          </a:solidFill>
          <a:ln w="6350"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42595" y="5469048"/>
            <a:ext cx="8592865" cy="256993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lang="en-US" sz="1550" b="1" dirty="0">
                <a:solidFill>
                  <a:srgbClr val="132B43"/>
                </a:solidFill>
                <a:latin typeface="Aptos" pitchFamily="34" charset="0"/>
                <a:cs typeface="Arial" pitchFamily="34" charset="-120"/>
              </a:rPr>
              <a:t>Takeaway: The results are clinically meaningful, but some signals still require expert validation</a:t>
            </a:r>
            <a:endParaRPr sz="1550" b="1" dirty="0">
              <a:solidFill>
                <a:srgbClr val="132B43"/>
              </a:solidFill>
              <a:latin typeface="Aptos" pitchFamily="34" charset="0"/>
              <a:cs typeface="Arial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12064" y="1289304"/>
            <a:ext cx="11173968" cy="0"/>
          </a:xfrm>
          <a:prstGeom prst="line">
            <a:avLst/>
          </a:prstGeom>
          <a:noFill/>
          <a:ln w="1016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the thesis contributes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536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it does not assume or claim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1993392"/>
            <a:ext cx="5257800" cy="502920"/>
          </a:xfrm>
          <a:prstGeom prst="rect">
            <a:avLst/>
          </a:prstGeom>
          <a:solidFill>
            <a:srgbClr val="EAF4FB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Shared patient-event contract: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PhysioNet and MIMIC-III are normalized into a common irregular-event representation.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72784" y="1993392"/>
            <a:ext cx="5257800" cy="502920"/>
          </a:xfrm>
          <a:prstGeom prst="rect">
            <a:avLst/>
          </a:prstGeom>
          <a:solidFill>
            <a:srgbClr val="FFF2E7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Raw variables are causal: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Vitals and labs are treated as measurements and proxies, not as causal objects by default.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706624"/>
            <a:ext cx="5257800" cy="502920"/>
          </a:xfrm>
          <a:prstGeom prst="rect">
            <a:avLst/>
          </a:prstGeom>
          <a:solidFill>
            <a:srgbClr val="EAF4FB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Latent causal bridge: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Raw measurements are translated into auditable latent illness-state proxies.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72784" y="2706624"/>
            <a:ext cx="5257800" cy="502920"/>
          </a:xfrm>
          <a:prstGeom prst="rect">
            <a:avLst/>
          </a:prstGeom>
          <a:solidFill>
            <a:srgbClr val="FFF2E7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Latent labels are clinical truth: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They are engineered proxies that require audit and refinement.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3419856"/>
            <a:ext cx="5257800" cy="502920"/>
          </a:xfrm>
          <a:prstGeom prst="rect">
            <a:avLst/>
          </a:prstGeom>
          <a:solidFill>
            <a:srgbClr val="EAF4FB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DAG-guided estimation: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Confounder adjustment is explicit, reviewable, and separated from model fitting.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72784" y="3419856"/>
            <a:ext cx="5257800" cy="502920"/>
          </a:xfrm>
          <a:prstGeom prst="rect">
            <a:avLst/>
          </a:prstGeom>
          <a:solidFill>
            <a:srgbClr val="FFF2E7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DAG is guaranteed correct: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Graph assumptions are transparent and contestable, not learned ground truth.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4133088"/>
            <a:ext cx="5257800" cy="502920"/>
          </a:xfrm>
          <a:prstGeom prst="rect">
            <a:avLst/>
          </a:prstGeom>
          <a:solidFill>
            <a:srgbClr val="EAF4FB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Validation layer: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Robustness, permutation, sensitivity, and clinical evidence checks expose both support and failure modes.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72784" y="4133088"/>
            <a:ext cx="5257800" cy="502920"/>
          </a:xfrm>
          <a:prstGeom prst="rect">
            <a:avLst/>
          </a:prstGeom>
          <a:solidFill>
            <a:srgbClr val="FFF2E7"/>
          </a:solidFill>
          <a:ln w="7620">
            <a:solidFill>
              <a:srgbClr val="C8D4E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B43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Observational CATE proves treatment effect: </a:t>
            </a:r>
            <a:r>
              <a:rPr lang="en-US" sz="1250" dirty="0">
                <a:solidFill>
                  <a:srgbClr val="314259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Estimates are hypothesis-generating summaries, not bedside decisions or clinical proof.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5349240"/>
            <a:ext cx="10332720" cy="566928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US" sz="1550" b="1" dirty="0">
                <a:solidFill>
                  <a:srgbClr val="102A43"/>
                </a:solidFill>
                <a:latin typeface="Aptos" pitchFamily="34" charset="0"/>
              </a:rPr>
              <a:t>Main message: recover the problem’s causal structure from observational </a:t>
            </a:r>
            <a:r>
              <a:rPr lang="en-US" sz="1550" b="1">
                <a:solidFill>
                  <a:srgbClr val="102A43"/>
                </a:solidFill>
                <a:latin typeface="Aptos" pitchFamily="34" charset="0"/>
              </a:rPr>
              <a:t>data.</a:t>
            </a:r>
            <a:endParaRPr lang="en-US" sz="1550" b="1" dirty="0">
              <a:solidFill>
                <a:srgbClr val="102A43"/>
              </a:solidFill>
              <a:latin typeface="Aptos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WRAPPING IT TOGETHER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Thesis contribution: causal representation for irregular ICU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45919"/>
            <a:ext cx="3291840" cy="3375808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102A43"/>
                </a:solidFill>
                <a:latin typeface="Aptos" pitchFamily="34" charset="0"/>
              </a:rPr>
              <a:t>Non-binary latent variables</a:t>
            </a:r>
          </a:p>
          <a:p>
            <a:pPr algn="ctr"/>
            <a:r>
              <a:rPr sz="1230" dirty="0">
                <a:solidFill>
                  <a:srgbClr val="4A5568"/>
                </a:solidFill>
                <a:latin typeface="Aptos" pitchFamily="34" charset="0"/>
              </a:rPr>
              <a:t>Extend binary tags to severity, duration, and trajectories.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1645919"/>
            <a:ext cx="0" cy="3375811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3291840" cy="3375806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102A43"/>
                </a:solidFill>
                <a:latin typeface="Aptos" pitchFamily="34" charset="0"/>
              </a:rPr>
              <a:t>Domain extension</a:t>
            </a:r>
          </a:p>
          <a:p>
            <a:pPr algn="ctr"/>
            <a:r>
              <a:rPr sz="1230" dirty="0">
                <a:solidFill>
                  <a:srgbClr val="4A5568"/>
                </a:solidFill>
                <a:latin typeface="Aptos" pitchFamily="34" charset="0"/>
              </a:rPr>
              <a:t>Evaluate the representation → DAG → effect pipeline in games, networking, and other engineered systems.</a:t>
            </a:r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0" cy="337581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0" y="1645919"/>
            <a:ext cx="3291840" cy="3375797"/>
          </a:xfrm>
          <a:prstGeom prst="rect">
            <a:avLst/>
          </a:prstGeom>
          <a:solidFill>
            <a:srgbClr val="FFF4E8"/>
          </a:solidFill>
          <a:ln w="10160">
            <a:solidFill>
              <a:srgbClr val="D8E2E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102A43"/>
                </a:solidFill>
                <a:latin typeface="Aptos" pitchFamily="34" charset="0"/>
              </a:rPr>
              <a:t>Foundation-model causal reasoning</a:t>
            </a:r>
          </a:p>
          <a:p>
            <a:pPr algn="ctr"/>
            <a:r>
              <a:rPr sz="1230" dirty="0">
                <a:solidFill>
                  <a:srgbClr val="4A5568"/>
                </a:solidFill>
                <a:latin typeface="Aptos" pitchFamily="34" charset="0"/>
              </a:rPr>
              <a:t>Compare model-proposed latent variables, DAGs, and rules against expert-validated baselines.</a:t>
            </a:r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0" cy="337581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5518129"/>
            <a:ext cx="10058400" cy="365760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algn="ctr"/>
            <a:r>
              <a:rPr sz="1550" b="1" dirty="0">
                <a:solidFill>
                  <a:srgbClr val="102A43"/>
                </a:solidFill>
                <a:latin typeface="Aptos" pitchFamily="34" charset="0"/>
              </a:rPr>
              <a:t>Future work </a:t>
            </a:r>
            <a:r>
              <a:rPr lang="en-US" sz="1550" b="1" dirty="0">
                <a:solidFill>
                  <a:srgbClr val="102A43"/>
                </a:solidFill>
                <a:latin typeface="Aptos" pitchFamily="34" charset="0"/>
              </a:rPr>
              <a:t>can </a:t>
            </a:r>
            <a:r>
              <a:rPr sz="1550" b="1" dirty="0">
                <a:solidFill>
                  <a:srgbClr val="102A43"/>
                </a:solidFill>
                <a:latin typeface="Aptos" pitchFamily="34" charset="0"/>
              </a:rPr>
              <a:t>focus on richer state representations, cross-domain validation, and safer expert-model collaboration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50" b="1">
                <a:solidFill>
                  <a:srgbClr val="007E8D"/>
                </a:solidFill>
                <a:latin typeface="Aptos"/>
              </a:rPr>
              <a:t>FUTURE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20" b="1">
                <a:solidFill>
                  <a:srgbClr val="0C2D46"/>
                </a:solidFill>
                <a:latin typeface="Aptos"/>
              </a:rPr>
              <a:t>Three directions that naturally extend the thesis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298448"/>
            <a:ext cx="11109960" cy="0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4709160" cy="1051560"/>
          </a:xfrm>
          <a:prstGeom prst="rect">
            <a:avLst/>
          </a:prstGeom>
          <a:solidFill>
            <a:srgbClr val="EAF4FB"/>
          </a:solidFill>
          <a:ln w="10160">
            <a:solidFill>
              <a:srgbClr val="D8E2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550" b="1">
                <a:solidFill>
                  <a:srgbClr val="102A43"/>
                </a:solidFill>
                <a:latin typeface="Aptos"/>
              </a:rPr>
              <a:t>Representation first
</a:t>
            </a:r>
            <a:r>
              <a:rPr sz="1360" b="0">
                <a:solidFill>
                  <a:srgbClr val="4A5568"/>
                </a:solidFill>
                <a:latin typeface="Aptos"/>
              </a:rPr>
              <a:t>Raw measurements are proxies; causal variables must be constructed before estimating effects.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83920" y="1645920"/>
            <a:ext cx="0" cy="1051560"/>
          </a:xfrm>
          <a:prstGeom prst="line">
            <a:avLst/>
          </a:prstGeom>
          <a:noFill/>
          <a:ln w="38100">
            <a:solidFill>
              <a:srgbClr val="1F5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4709160" cy="1051560"/>
          </a:xfrm>
          <a:prstGeom prst="rect">
            <a:avLst/>
          </a:prstGeom>
          <a:solidFill>
            <a:srgbClr val="E8F7F6"/>
          </a:solidFill>
          <a:ln w="10160">
            <a:solidFill>
              <a:srgbClr val="D8E2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550" b="1">
                <a:solidFill>
                  <a:srgbClr val="102A43"/>
                </a:solidFill>
                <a:latin typeface="Aptos"/>
              </a:rPr>
              <a:t>Translation pipeline
</a:t>
            </a:r>
            <a:r>
              <a:rPr sz="1360" b="0">
                <a:solidFill>
                  <a:srgbClr val="4A5568"/>
                </a:solidFill>
                <a:latin typeface="Aptos"/>
              </a:rPr>
              <a:t>CliniCause converts irregular time-series variables into an auditable causal representation table.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880" y="1645920"/>
            <a:ext cx="0" cy="105156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709160" cy="1051560"/>
          </a:xfrm>
          <a:prstGeom prst="rect">
            <a:avLst/>
          </a:prstGeom>
          <a:solidFill>
            <a:srgbClr val="FFF4E8"/>
          </a:solidFill>
          <a:ln w="10160">
            <a:solidFill>
              <a:srgbClr val="D8E2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550" b="1">
                <a:solidFill>
                  <a:srgbClr val="102A43"/>
                </a:solidFill>
                <a:latin typeface="Aptos"/>
              </a:rPr>
              <a:t>Validation over certainty
</a:t>
            </a:r>
            <a:r>
              <a:rPr sz="1360" b="0">
                <a:solidFill>
                  <a:srgbClr val="4A5568"/>
                </a:solidFill>
                <a:latin typeface="Aptos"/>
              </a:rPr>
              <a:t>Rules, voters, DAGs, permutation, sensitivity and evidence checks expose assumptions and failures.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3920" y="3291840"/>
            <a:ext cx="0" cy="105156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4709160" cy="1051560"/>
          </a:xfrm>
          <a:prstGeom prst="rect">
            <a:avLst/>
          </a:prstGeom>
          <a:solidFill>
            <a:srgbClr val="EAF7EF"/>
          </a:solidFill>
          <a:ln w="10160">
            <a:solidFill>
              <a:srgbClr val="D8E2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0"/>
              </a:spcAft>
            </a:pPr>
            <a:r>
              <a:rPr sz="1550" b="1">
                <a:solidFill>
                  <a:srgbClr val="102A43"/>
                </a:solidFill>
                <a:latin typeface="Aptos"/>
              </a:rPr>
              <a:t>Dataset contribution
</a:t>
            </a:r>
            <a:r>
              <a:rPr sz="1360" b="0">
                <a:solidFill>
                  <a:srgbClr val="4A5568"/>
                </a:solidFill>
                <a:latin typeface="Aptos"/>
              </a:rPr>
              <a:t>The output is a reusable causal-representation dataset for benchmarking and hypothesis generation.</a:t>
            </a:r>
          </a:p>
        </p:txBody>
      </p:sp>
      <p:sp>
        <p:nvSpPr>
          <p:cNvPr id="12" name="Shape 10"/>
          <p:cNvSpPr/>
          <p:nvPr/>
        </p:nvSpPr>
        <p:spPr>
          <a:xfrm>
            <a:off x="6278880" y="3291840"/>
            <a:ext cx="0" cy="1051560"/>
          </a:xfrm>
          <a:prstGeom prst="line">
            <a:avLst/>
          </a:prstGeom>
          <a:noFill/>
          <a:ln w="38100">
            <a:solidFill>
              <a:srgbClr val="2F85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201168"/>
            <a:ext cx="54864" cy="393192"/>
          </a:xfrm>
          <a:prstGeom prst="rect">
            <a:avLst/>
          </a:prstGeom>
          <a:solidFill>
            <a:srgbClr val="0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146304"/>
            <a:ext cx="2834640" cy="18288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600" b="1">
                <a:solidFill>
                  <a:srgbClr val="00778A"/>
                </a:solidFill>
                <a:latin typeface="Aptos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65760"/>
            <a:ext cx="10744200" cy="31089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CliniCause turns non-causal measurements into auditable causal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841248"/>
            <a:ext cx="10972800" cy="5486"/>
          </a:xfrm>
          <a:prstGeom prst="rect">
            <a:avLst/>
          </a:prstGeom>
          <a:solidFill>
            <a:srgbClr val="E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6638544"/>
            <a:ext cx="8138160" cy="146304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70" b="0">
                <a:solidFill>
                  <a:srgbClr val="5C6E78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50" b="0">
                <a:solidFill>
                  <a:srgbClr val="5C6E78"/>
                </a:solidFill>
                <a:latin typeface="Aptos"/>
              </a:rPr>
              <a:t>23</a:t>
            </a: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9DAEB4AF-3556-C716-A45D-4E56AFFC771C}"/>
              </a:ext>
            </a:extLst>
          </p:cNvPr>
          <p:cNvSpPr/>
          <p:nvPr/>
        </p:nvSpPr>
        <p:spPr>
          <a:xfrm>
            <a:off x="658368" y="4850679"/>
            <a:ext cx="10881360" cy="1158238"/>
          </a:xfrm>
          <a:prstGeom prst="rect">
            <a:avLst/>
          </a:prstGeom>
          <a:solidFill>
            <a:srgbClr val="EAF4FB"/>
          </a:solidFill>
          <a:ln w="8890">
            <a:solidFill>
              <a:srgbClr val="C7E0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</a:rPr>
              <a:t>Main message (again): recover the problem’s causal structure from your observational </a:t>
            </a: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05740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DDEFF8"/>
                </a:solidFill>
                <a:latin typeface="Aptos"/>
              </a:rPr>
              <a:t>Kobi Kenzi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DDEFF8"/>
                </a:solidFill>
                <a:latin typeface="Aptos"/>
              </a:rPr>
              <a:t>Advisor: Dr. Dan Vilenchik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DDEFF8"/>
                </a:solidFill>
                <a:latin typeface="Aptos"/>
              </a:rPr>
              <a:t>Ben-Gurion University of the Negev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DDEFF8"/>
                </a:solidFill>
                <a:latin typeface="Aptos"/>
              </a:rPr>
              <a:t>Department of Communication Systems Engineering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7F0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6"/>
                </a:solidFill>
                <a:latin typeface="Aptos"/>
              </a:rPr>
              <a:t>From irregular ICU events to auditable causal latent-state analysis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438912" y="6638544"/>
            <a:ext cx="7863840" cy="128016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560" b="0">
                <a:solidFill>
                  <a:srgbClr val="B4C6D1"/>
                </a:solidFill>
                <a:latin typeface="Aptos"/>
              </a:rPr>
              <a:t>M.Sc. thesis seminar  |  CATE estimates are model-based risk differences under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620256"/>
            <a:ext cx="320040" cy="16459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r"/>
            <a:r>
              <a:rPr sz="620" b="0">
                <a:solidFill>
                  <a:srgbClr val="B4C6D1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3002</Words>
  <Application>Microsoft Office PowerPoint</Application>
  <PresentationFormat>מסך רחב</PresentationFormat>
  <Paragraphs>338</Paragraphs>
  <Slides>22</Slides>
  <Notes>21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Ben-Gurion University of the Negev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Irregular ICU Time-Series to Causal Latent-State Analysis</dc:title>
  <dc:subject>M.Sc. Thesis Engineering Seminar</dc:subject>
  <dc:creator>Kobi Kenzi</dc:creator>
  <cp:lastModifiedBy>קובי קנזי</cp:lastModifiedBy>
  <cp:revision>16</cp:revision>
  <dcterms:created xsi:type="dcterms:W3CDTF">2026-06-14T10:55:07Z</dcterms:created>
  <dcterms:modified xsi:type="dcterms:W3CDTF">2026-06-21T20:42:02Z</dcterms:modified>
</cp:coreProperties>
</file>